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642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jpe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9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32.jpeg"/><Relationship Id="rId7" Type="http://schemas.microsoft.com/office/2007/relationships/hdphoto" Target="../media/hdphoto2.wd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029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0" y="182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AVN Institute of Engineering &amp; Technology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0" y="4754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  |  2025-2026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0040" y="16459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PASSWORD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320040" y="226771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320040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GPAS SECURE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0040" y="3291840"/>
            <a:ext cx="8503920" cy="182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3401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0040" y="36758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Sai Madhav   –   235U1A05B0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0040" y="39044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Sree Vidhya  –   235U1A05C6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" y="41330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Suraj           –   235U1A05B4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0352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303520" y="36758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Sabitha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Dept. of CSE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675120" y="1088136"/>
            <a:ext cx="2194560" cy="640080"/>
          </a:xfrm>
          <a:prstGeom prst="rect">
            <a:avLst/>
          </a:prstGeom>
          <a:solidFill>
            <a:srgbClr val="0D2B5A"/>
          </a:solidFill>
          <a:ln w="2540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75120" y="11811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75120" y="14036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Mini Project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1</a:t>
            </a:r>
            <a:endParaRPr 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7F45F3-9239-6E02-4059-FB6D9BCFA519}"/>
              </a:ext>
            </a:extLst>
          </p:cNvPr>
          <p:cNvSpPr txBox="1"/>
          <p:nvPr/>
        </p:nvSpPr>
        <p:spPr>
          <a:xfrm>
            <a:off x="216462" y="4425696"/>
            <a:ext cx="8759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Batch: 16</a:t>
            </a:r>
            <a:endParaRPr lang="en-US" sz="1400" dirty="0"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8412480" cy="2286000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2801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GPAS Secure is a multi-layered web-based authentication system that replaces traditional text passwords with graphical image click-points. Users register by selecting secret points on an image and verify identity via OTP. During login, captcha validation prevents automated attacks, while tolerance-based coordinate matching verifies the graphical password. Failed attempts beyond three lock the account automatically.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3566160"/>
            <a:ext cx="2651760" cy="1051560"/>
          </a:xfrm>
          <a:prstGeom prst="rect">
            <a:avLst/>
          </a:prstGeom>
          <a:solidFill>
            <a:srgbClr val="0D2B5A"/>
          </a:solidFill>
          <a:ln w="1905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3639312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" y="4187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0" y="3566160"/>
            <a:ext cx="2651760" cy="1051560"/>
          </a:xfrm>
          <a:prstGeom prst="rect">
            <a:avLst/>
          </a:prstGeom>
          <a:solidFill>
            <a:srgbClr val="0D2B5A"/>
          </a:solidFill>
          <a:ln w="1905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363931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46120" y="4187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035040" y="3566160"/>
            <a:ext cx="2651760" cy="1051560"/>
          </a:xfrm>
          <a:prstGeom prst="rect">
            <a:avLst/>
          </a:prstGeom>
          <a:solidFill>
            <a:srgbClr val="0D2B5A"/>
          </a:solidFill>
          <a:ln w="1905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639312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80760" y="4187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Limiting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Passwords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3566160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81912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1581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brute force attacks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3911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" y="2039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guess or phish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9631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" y="2496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remember complex strings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5351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4672" y="2953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reuse across platforms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10712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4672" y="3410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Keylogging exploits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67912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04672" y="3867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multi-layer protection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4754880" y="1143000"/>
            <a:ext cx="4023360" cy="3566160"/>
          </a:xfrm>
          <a:prstGeom prst="rect">
            <a:avLst/>
          </a:prstGeom>
          <a:solidFill>
            <a:srgbClr val="0D2B5A"/>
          </a:solidFill>
          <a:ln w="1905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Text 13"/>
          <p:cNvSpPr/>
          <p:nvPr/>
        </p:nvSpPr>
        <p:spPr>
          <a:xfrm>
            <a:off x="48920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81912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93792" y="1581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Click-point graphical password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039112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93792" y="2039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email verification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96312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93792" y="2496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to block bots</a:t>
            </a:r>
            <a:endParaRPr lang="en-US" sz="12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53512"/>
            <a:ext cx="228600" cy="2286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193792" y="2953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3-attempt account lockout</a:t>
            </a:r>
            <a:endParaRPr lang="en-US" sz="12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410712"/>
            <a:ext cx="228600" cy="2286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193792" y="3410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 &amp; auto-logout</a:t>
            </a:r>
            <a:endParaRPr lang="en-US" sz="12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867912"/>
            <a:ext cx="228600" cy="22860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193792" y="3867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monitoring &amp; audit logs</a:t>
            </a:r>
            <a:endParaRPr lang="en-US" sz="1200" dirty="0"/>
          </a:p>
        </p:txBody>
      </p:sp>
      <p:sp>
        <p:nvSpPr>
          <p:cNvPr id="34" name="Shape 20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5" name="Text 21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36" name="Text 22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&amp; Prior Systems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15568"/>
            <a:ext cx="4206240" cy="1078992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64008" cy="107899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Password Systems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4813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Click-based, recall &amp; recognition methods improve memorability over text passwords.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115568"/>
            <a:ext cx="4206240" cy="1078992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15568"/>
            <a:ext cx="64008" cy="107899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 (MFA)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5192" y="14813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passwords with OTP, biometrics, or captcha significantly reduces breach risk.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4206240" cy="1078992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04288"/>
            <a:ext cx="64008" cy="107899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Systems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267004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and image-based captchas prevent automated bot login attacks effectively.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2304288"/>
            <a:ext cx="4206240" cy="1078992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304288"/>
            <a:ext cx="64008" cy="107899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4965192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Shoulder-Surfing Studies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65192" y="267004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Tolerance-based matching and multi-image selection reduce observation-based attacks.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493008"/>
            <a:ext cx="4206240" cy="1078992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493008"/>
            <a:ext cx="64008" cy="107899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584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Authentication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" y="38587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Time-sensitive one-time codes verified via email/SMS provide strong user validation.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00600" y="3493008"/>
            <a:ext cx="4206240" cy="1078992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493008"/>
            <a:ext cx="64008" cy="107899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8" name="Text 26"/>
          <p:cNvSpPr/>
          <p:nvPr/>
        </p:nvSpPr>
        <p:spPr>
          <a:xfrm>
            <a:off x="4965192" y="3584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&amp; Analytics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65192" y="38587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dashboards with charts detect anomalies and maintain system integrity.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252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3749040" cy="411480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719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17190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 or above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157984"/>
            <a:ext cx="3749040" cy="411480"/>
          </a:xfrm>
          <a:prstGeom prst="rect">
            <a:avLst/>
          </a:prstGeom>
          <a:solidFill>
            <a:srgbClr val="0A1428"/>
          </a:solidFill>
          <a:ln w="6350">
            <a:solidFill>
              <a:srgbClr val="1A3A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1854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20240" y="21854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GB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624328"/>
            <a:ext cx="3749040" cy="411480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651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2651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free space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090672"/>
            <a:ext cx="3749040" cy="411480"/>
          </a:xfrm>
          <a:prstGeom prst="rect">
            <a:avLst/>
          </a:prstGeom>
          <a:solidFill>
            <a:srgbClr val="0A1428"/>
          </a:solidFill>
          <a:ln w="6350">
            <a:solidFill>
              <a:srgbClr val="1A3A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1181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920240" y="31181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OS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557016"/>
            <a:ext cx="3749040" cy="411480"/>
          </a:xfrm>
          <a:prstGeom prst="rect">
            <a:avLst/>
          </a:prstGeom>
          <a:solidFill>
            <a:srgbClr val="0D1B3E"/>
          </a:solidFill>
          <a:ln w="6350">
            <a:solidFill>
              <a:srgbClr val="1A3A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3584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920240" y="3584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+ Mouse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023360"/>
            <a:ext cx="3749040" cy="411480"/>
          </a:xfrm>
          <a:prstGeom prst="rect">
            <a:avLst/>
          </a:prstGeom>
          <a:solidFill>
            <a:srgbClr val="0A1428"/>
          </a:solidFill>
          <a:ln w="6350">
            <a:solidFill>
              <a:srgbClr val="1A3A6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050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920240" y="40507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Required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17720" y="1143000"/>
            <a:ext cx="4160520" cy="3566160"/>
          </a:xfrm>
          <a:prstGeom prst="rect">
            <a:avLst/>
          </a:prstGeom>
          <a:solidFill>
            <a:srgbClr val="0D2B5A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188720"/>
            <a:ext cx="411480" cy="4114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12080" y="1252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709160" y="1664208"/>
            <a:ext cx="3977640" cy="594360"/>
          </a:xfrm>
          <a:prstGeom prst="rect">
            <a:avLst/>
          </a:prstGeom>
          <a:solidFill>
            <a:srgbClr val="071828"/>
          </a:solidFill>
          <a:ln w="1270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4800600" y="1709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800600" y="1920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• CSS • JavaScript • Bootstrap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709160" y="2313432"/>
            <a:ext cx="3977640" cy="594360"/>
          </a:xfrm>
          <a:prstGeom prst="rect">
            <a:avLst/>
          </a:prstGeom>
          <a:solidFill>
            <a:srgbClr val="071828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4800600" y="23591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800600" y="25694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• Express.js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709160" y="2962656"/>
            <a:ext cx="3977640" cy="594360"/>
          </a:xfrm>
          <a:prstGeom prst="rect">
            <a:avLst/>
          </a:prstGeom>
          <a:solidFill>
            <a:srgbClr val="071828"/>
          </a:solidFill>
          <a:ln w="12700">
            <a:solidFill>
              <a:srgbClr val="FFB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Text 33"/>
          <p:cNvSpPr/>
          <p:nvPr/>
        </p:nvSpPr>
        <p:spPr>
          <a:xfrm>
            <a:off x="4800600" y="30083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4800600" y="3218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4709160" y="3611880"/>
            <a:ext cx="3977640" cy="594360"/>
          </a:xfrm>
          <a:prstGeom prst="rect">
            <a:avLst/>
          </a:prstGeom>
          <a:solidFill>
            <a:srgbClr val="071828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0" name="Text 36"/>
          <p:cNvSpPr/>
          <p:nvPr/>
        </p:nvSpPr>
        <p:spPr>
          <a:xfrm>
            <a:off x="480060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4800600" y="38679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• Multer • SMTP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4709160" y="4261104"/>
            <a:ext cx="3977640" cy="594360"/>
          </a:xfrm>
          <a:prstGeom prst="rect">
            <a:avLst/>
          </a:prstGeom>
          <a:solidFill>
            <a:srgbClr val="071828"/>
          </a:solidFill>
          <a:ln w="12700">
            <a:solidFill>
              <a:srgbClr val="90A4A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4800600" y="43068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4800600" y="45171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• Firefox • Edge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vs Proposed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15568"/>
            <a:ext cx="4114800" cy="3657600"/>
          </a:xfrm>
          <a:prstGeom prst="rect">
            <a:avLst/>
          </a:prstGeom>
          <a:solidFill>
            <a:srgbClr val="1A0A0A"/>
          </a:solidFill>
          <a:ln w="19050">
            <a:solidFill>
              <a:srgbClr val="EF535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EXISTING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Password Authentication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Weak &amp; reused passwords common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26771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Brute force &amp; dictionary attacks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70662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Phishing &amp; social 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14553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visual memory advantage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584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attempt limit protection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0233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admin monitoring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115568"/>
            <a:ext cx="4114800" cy="3657600"/>
          </a:xfrm>
          <a:prstGeom prst="rect">
            <a:avLst/>
          </a:prstGeom>
          <a:solidFill>
            <a:srgbClr val="071A0F"/>
          </a:solidFill>
          <a:ln w="19050">
            <a:solidFill>
              <a:srgbClr val="00E676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PROPOSED SYSTEM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GPAS Secure – Multi-Layer Authentication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Image click-point graphical password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267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OTP email verification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7066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Captcha bot prevention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145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Login attempt limiter (max 3)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584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Account locking mechanism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panel &amp; audit logs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06240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21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526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Client-Server Design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36092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5548" y="950976"/>
            <a:ext cx="30632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1097280"/>
            <a:ext cx="4023360" cy="1207008"/>
          </a:xfrm>
          <a:prstGeom prst="rect">
            <a:avLst/>
          </a:prstGeom>
          <a:solidFill>
            <a:srgbClr val="111D35"/>
          </a:solidFill>
          <a:ln w="1905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170432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1704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40680" y="142646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• CSS • JS • Bootstrap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956048" y="167335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Dashboard, File Management UI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720840" y="2322576"/>
            <a:ext cx="45720" cy="10972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Shape 9"/>
          <p:cNvSpPr/>
          <p:nvPr/>
        </p:nvSpPr>
        <p:spPr>
          <a:xfrm>
            <a:off x="4846320" y="2423160"/>
            <a:ext cx="4023360" cy="1207008"/>
          </a:xfrm>
          <a:prstGeom prst="rect">
            <a:avLst/>
          </a:prstGeom>
          <a:solidFill>
            <a:srgbClr val="111D35"/>
          </a:solidFill>
          <a:ln w="1905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49631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4963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40680" y="27523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• Express.js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956048" y="299923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Logic, OTP Generation, Captcha, Session Mgmt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20840" y="3648456"/>
            <a:ext cx="45720" cy="10972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9" name="Shape 14"/>
          <p:cNvSpPr/>
          <p:nvPr/>
        </p:nvSpPr>
        <p:spPr>
          <a:xfrm>
            <a:off x="4846320" y="3749040"/>
            <a:ext cx="4023360" cy="1207008"/>
          </a:xfrm>
          <a:prstGeom prst="rect">
            <a:avLst/>
          </a:prstGeom>
          <a:solidFill>
            <a:srgbClr val="111D35"/>
          </a:solidFill>
          <a:ln w="19050">
            <a:solidFill>
              <a:srgbClr val="FFB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82219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38221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40680" y="40782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956048" y="432511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Files, Graphical Coords, Audit Logs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– Agile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 Approach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15568"/>
            <a:ext cx="2697480" cy="1572768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2070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29768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registers, OTP sent &amp; verified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44952" y="168249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115568"/>
            <a:ext cx="2697480" cy="1572768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12070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55848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Setup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image &amp; 4 click-points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71032" y="168249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1115568"/>
            <a:ext cx="2697480" cy="1572768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81928" y="12070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81928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81928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Captcha entry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852928"/>
            <a:ext cx="2697480" cy="1572768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" y="294436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29768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Auth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" y="3703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Click-point selection &amp; validation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44952" y="341985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46120" y="2852928"/>
            <a:ext cx="2697480" cy="1572768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55848" y="294436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55848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55848" y="3703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 or lock account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71032" y="341985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72200" y="2852928"/>
            <a:ext cx="2697480" cy="1572768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81928" y="294436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281928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81928" y="3703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 &amp; analytics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– Use Case Diagram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User &amp; Admin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502920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097280"/>
            <a:ext cx="3291840" cy="1691640"/>
          </a:xfrm>
          <a:prstGeom prst="rect">
            <a:avLst/>
          </a:prstGeom>
          <a:solidFill>
            <a:srgbClr val="111D35"/>
          </a:solidFill>
          <a:ln w="1270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188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0" y="14813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Register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0" y="172821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Login (Captcha + Graphical)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0" y="197510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Manage Files (Upload/Download)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222199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View Dashboard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0" y="246888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Logout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2907792"/>
            <a:ext cx="3291840" cy="1737360"/>
          </a:xfrm>
          <a:prstGeom prst="rect">
            <a:avLst/>
          </a:prstGeom>
          <a:solidFill>
            <a:srgbClr val="0D2B5A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15000" y="2999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ACTIONS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15000" y="32918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Manage Users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15000" y="35661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View Activity Logs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15000" y="38404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Analytics &amp; Charts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15000" y="41148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Monitor Security Alerts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– Activity Diagram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Process Workflow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579620" cy="36989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57800" y="1097280"/>
            <a:ext cx="3611880" cy="3794760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94960" y="11887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POINTS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94960" y="1527048"/>
            <a:ext cx="3383280" cy="1005840"/>
          </a:xfrm>
          <a:prstGeom prst="rect">
            <a:avLst/>
          </a:prstGeom>
          <a:solidFill>
            <a:srgbClr val="071828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0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User Registering?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0" y="18379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Enter Details → OTP → Save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0" y="2039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 Enter Username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94960" y="2624328"/>
            <a:ext cx="3383280" cy="1005840"/>
          </a:xfrm>
          <a:prstGeom prst="rect">
            <a:avLst/>
          </a:prstGeom>
          <a:solidFill>
            <a:srgbClr val="071828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0" y="2670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Credentials Valid?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0" y="29352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Access Granted → Dashboard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0" y="3136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 Increase Attempt Count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94960" y="3721608"/>
            <a:ext cx="3383280" cy="1005840"/>
          </a:xfrm>
          <a:prstGeom prst="rect">
            <a:avLst/>
          </a:prstGeom>
          <a:solidFill>
            <a:srgbClr val="071828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86400" y="3767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Attempts &lt; 3?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0" y="4032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Retry Login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0" y="4233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 Account Locked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– Entity Relationship Diagram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859536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749040"/>
            <a:ext cx="2834640" cy="1005840"/>
          </a:xfrm>
          <a:prstGeom prst="rect">
            <a:avLst/>
          </a:prstGeom>
          <a:solidFill>
            <a:srgbClr val="111D35"/>
          </a:solidFill>
          <a:ln w="1905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4048" y="38130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4048" y="40873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username, email, password_image, click_points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3749040"/>
            <a:ext cx="2834640" cy="1005840"/>
          </a:xfrm>
          <a:prstGeom prst="rect">
            <a:avLst/>
          </a:prstGeom>
          <a:solidFill>
            <a:srgbClr val="111D35"/>
          </a:solidFill>
          <a:ln w="19050">
            <a:solidFill>
              <a:srgbClr val="FFB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55848" y="38130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55848" y="40873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file_id, user_id (FK), file_name, file_path, upload_date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17920" y="3749040"/>
            <a:ext cx="2834640" cy="1005840"/>
          </a:xfrm>
          <a:prstGeom prst="rect">
            <a:avLst/>
          </a:prstGeom>
          <a:solidFill>
            <a:srgbClr val="111D35"/>
          </a:solidFill>
          <a:ln w="1905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27648" y="38130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27648" y="40873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log_id, user_id (FK), activity_type, timestamp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74320" y="468172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 Users  1→N  Files   |   Users  1→N  Audit Logs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– Data Flow Diagrams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• Level 1 • Level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51560"/>
            <a:ext cx="2743200" cy="3840480"/>
          </a:xfrm>
          <a:prstGeom prst="rect">
            <a:avLst/>
          </a:prstGeom>
          <a:solidFill>
            <a:srgbClr val="111D35"/>
          </a:solidFill>
          <a:ln w="1270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15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344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1471" r="-1471"/>
          <a:stretch/>
        </p:blipFill>
        <p:spPr>
          <a:xfrm>
            <a:off x="274320" y="1554480"/>
            <a:ext cx="2651760" cy="3108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0" y="1051560"/>
            <a:ext cx="2743200" cy="3840480"/>
          </a:xfrm>
          <a:prstGeom prst="rect">
            <a:avLst/>
          </a:prstGeom>
          <a:solidFill>
            <a:srgbClr val="111D35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91840" y="1115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91840" y="1344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Processes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471" r="-1471"/>
          <a:stretch/>
        </p:blipFill>
        <p:spPr>
          <a:xfrm>
            <a:off x="3246120" y="1554480"/>
            <a:ext cx="2651760" cy="31089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72200" y="1051560"/>
            <a:ext cx="2724912" cy="3840480"/>
          </a:xfrm>
          <a:prstGeom prst="rect">
            <a:avLst/>
          </a:prstGeom>
          <a:solidFill>
            <a:srgbClr val="111D35"/>
          </a:solidFill>
          <a:ln w="12700">
            <a:solidFill>
              <a:srgbClr val="FFB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263640" y="111556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263640" y="134416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Process Detail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1471" r="-1471"/>
          <a:stretch/>
        </p:blipFill>
        <p:spPr>
          <a:xfrm>
            <a:off x="6217920" y="1554480"/>
            <a:ext cx="2606040" cy="31089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Flowchart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Login Process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24128"/>
            <a:ext cx="502920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1051560"/>
            <a:ext cx="3429000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1051560"/>
            <a:ext cx="54864" cy="56692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6"/>
          <p:cNvSpPr/>
          <p:nvPr/>
        </p:nvSpPr>
        <p:spPr>
          <a:xfrm>
            <a:off x="562356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2356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username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1682496"/>
            <a:ext cx="3429000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1682496"/>
            <a:ext cx="54864" cy="5669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0"/>
          <p:cNvSpPr/>
          <p:nvPr/>
        </p:nvSpPr>
        <p:spPr>
          <a:xfrm>
            <a:off x="5623560" y="17282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23560" y="19568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math captcha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2313432"/>
            <a:ext cx="3429000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2313432"/>
            <a:ext cx="54864" cy="5669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4"/>
          <p:cNvSpPr/>
          <p:nvPr/>
        </p:nvSpPr>
        <p:spPr>
          <a:xfrm>
            <a:off x="5623560" y="23591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PW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23560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4 click-points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0" y="2944368"/>
            <a:ext cx="3429000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FFB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0" y="2944368"/>
            <a:ext cx="54864" cy="56692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1" name="Text 18"/>
          <p:cNvSpPr/>
          <p:nvPr/>
        </p:nvSpPr>
        <p:spPr>
          <a:xfrm>
            <a:off x="5623560" y="2990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23560" y="32186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Tolerance-based match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0" y="3575304"/>
            <a:ext cx="3429000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00E676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0" y="3575304"/>
            <a:ext cx="54864" cy="5669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5" name="Text 22"/>
          <p:cNvSpPr/>
          <p:nvPr/>
        </p:nvSpPr>
        <p:spPr>
          <a:xfrm>
            <a:off x="5623560" y="36210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Check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23560" y="3849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emailed OTP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0" y="4206240"/>
            <a:ext cx="3429000" cy="566928"/>
          </a:xfrm>
          <a:prstGeom prst="rect">
            <a:avLst/>
          </a:prstGeom>
          <a:solidFill>
            <a:srgbClr val="111D35"/>
          </a:solidFill>
          <a:ln w="12700">
            <a:solidFill>
              <a:srgbClr val="EF535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86400" y="4206240"/>
            <a:ext cx="54864" cy="56692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9" name="Text 26"/>
          <p:cNvSpPr/>
          <p:nvPr/>
        </p:nvSpPr>
        <p:spPr>
          <a:xfrm>
            <a:off x="5623560" y="4251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2356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or lock account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Feature-by-Feature Breakdown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4251960" cy="1152144"/>
          </a:xfrm>
          <a:prstGeom prst="rect">
            <a:avLst/>
          </a:prstGeom>
          <a:solidFill>
            <a:srgbClr val="111D35"/>
          </a:solidFill>
          <a:ln w="1270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88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1887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Module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4048" y="1664208"/>
            <a:ext cx="4041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Username, email input, OTP verification, image selection &amp; click-point setup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36592" y="1097280"/>
            <a:ext cx="4251960" cy="1152144"/>
          </a:xfrm>
          <a:prstGeom prst="rect">
            <a:avLst/>
          </a:prstGeom>
          <a:solidFill>
            <a:srgbClr val="111D35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887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58384" y="11887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Module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0" y="1664208"/>
            <a:ext cx="4041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validation, graphical password matching, attempt limiting, account lock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359152"/>
            <a:ext cx="4251960" cy="1152144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45059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" y="24505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Module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84048" y="2926080"/>
            <a:ext cx="4041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status, session timer, activity overview, security analytics graph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36592" y="2359152"/>
            <a:ext cx="4251960" cy="1152144"/>
          </a:xfrm>
          <a:prstGeom prst="rect">
            <a:avLst/>
          </a:prstGeom>
          <a:solidFill>
            <a:srgbClr val="111D35"/>
          </a:solidFill>
          <a:ln w="12700">
            <a:solidFill>
              <a:srgbClr val="FFB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450592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58384" y="24505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846320" y="2926080"/>
            <a:ext cx="4041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upload, file preview, download &amp; delete with Multer backend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274320" y="3621024"/>
            <a:ext cx="4251960" cy="1152144"/>
          </a:xfrm>
          <a:prstGeom prst="rect">
            <a:avLst/>
          </a:prstGeom>
          <a:solidFill>
            <a:srgbClr val="111D35"/>
          </a:solidFill>
          <a:ln w="12700">
            <a:solidFill>
              <a:srgbClr val="00E676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712464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96112" y="3712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84048" y="4187952"/>
            <a:ext cx="4041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role promotion, activity monitoring, threat detection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736592" y="3621024"/>
            <a:ext cx="4251960" cy="1152144"/>
          </a:xfrm>
          <a:prstGeom prst="rect">
            <a:avLst/>
          </a:prstGeom>
          <a:solidFill>
            <a:srgbClr val="111D35"/>
          </a:solidFill>
          <a:ln w="12700">
            <a:solidFill>
              <a:srgbClr val="EF535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712464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58384" y="3712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Module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846320" y="4187952"/>
            <a:ext cx="4041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OTP, captcha, attempt limit, session timeout, audit logging, encryption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Frontend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• CSS • JavaScript • Bootstrap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749808"/>
          </a:xfrm>
          <a:prstGeom prst="rect">
            <a:avLst/>
          </a:prstGeom>
          <a:solidFill>
            <a:srgbClr val="111D35"/>
          </a:solidFill>
          <a:ln w="1270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1645920" cy="749808"/>
          </a:xfrm>
          <a:prstGeom prst="rect">
            <a:avLst/>
          </a:prstGeom>
          <a:solidFill>
            <a:srgbClr val="07182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527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57400" y="120700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 UI, image canvas for click-point selection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8503920" cy="749808"/>
          </a:xfrm>
          <a:prstGeom prst="rect">
            <a:avLst/>
          </a:prstGeom>
          <a:solidFill>
            <a:srgbClr val="111D35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38528"/>
            <a:ext cx="1645920" cy="749808"/>
          </a:xfrm>
          <a:prstGeom prst="rect">
            <a:avLst/>
          </a:prstGeom>
          <a:solidFill>
            <a:srgbClr val="071828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0756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57400" y="20299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styling, responsive layout, animation effects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61488"/>
            <a:ext cx="8503920" cy="749808"/>
          </a:xfrm>
          <a:prstGeom prst="rect">
            <a:avLst/>
          </a:prstGeom>
          <a:solidFill>
            <a:srgbClr val="111D35"/>
          </a:solidFill>
          <a:ln w="12700">
            <a:solidFill>
              <a:srgbClr val="FFB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61488"/>
            <a:ext cx="1645920" cy="749808"/>
          </a:xfrm>
          <a:prstGeom prst="rect">
            <a:avLst/>
          </a:prstGeom>
          <a:solidFill>
            <a:srgbClr val="071828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8986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script.js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57400" y="28529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click capture, coordinate tracking, form validation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657600"/>
            <a:ext cx="8503920" cy="1133856"/>
          </a:xfrm>
          <a:prstGeom prst="rect">
            <a:avLst/>
          </a:prstGeom>
          <a:solidFill>
            <a:srgbClr val="071828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" y="367588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Canvas click capture – script.js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9319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canvas.addEventListener("click", function(e)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rect = canvas.getBoundingClientRect();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x = Math.round(e.clientX - rect.left);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y = Math.round(e.clientY - rect.top);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clickPoints.push({ x, y });  // store coordinates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Backend &amp; Database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• Express.js • MySQL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15568"/>
            <a:ext cx="1463040" cy="822960"/>
          </a:xfrm>
          <a:prstGeom prst="rect">
            <a:avLst/>
          </a:prstGeom>
          <a:solidFill>
            <a:srgbClr val="111D35"/>
          </a:solidFill>
          <a:ln w="1905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2070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09928" y="13898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84248" y="1115568"/>
            <a:ext cx="1463040" cy="822960"/>
          </a:xfrm>
          <a:prstGeom prst="rect">
            <a:avLst/>
          </a:prstGeom>
          <a:solidFill>
            <a:srgbClr val="111D35"/>
          </a:solidFill>
          <a:ln w="1905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84248" y="12070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65576" y="13898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39896" y="1115568"/>
            <a:ext cx="1463040" cy="822960"/>
          </a:xfrm>
          <a:prstGeom prst="rect">
            <a:avLst/>
          </a:prstGeom>
          <a:solidFill>
            <a:srgbClr val="111D35"/>
          </a:solidFill>
          <a:ln w="1905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9896" y="12070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21224" y="13898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95544" y="1115568"/>
            <a:ext cx="1463040" cy="822960"/>
          </a:xfrm>
          <a:prstGeom prst="rect">
            <a:avLst/>
          </a:prstGeom>
          <a:solidFill>
            <a:srgbClr val="111D35"/>
          </a:solidFill>
          <a:ln w="19050">
            <a:solidFill>
              <a:srgbClr val="FFB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95544" y="12070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76872" y="13898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51192" y="1115568"/>
            <a:ext cx="1463040" cy="822960"/>
          </a:xfrm>
          <a:prstGeom prst="rect">
            <a:avLst/>
          </a:prstGeom>
          <a:solidFill>
            <a:srgbClr val="111D35"/>
          </a:solidFill>
          <a:ln w="19050">
            <a:solidFill>
              <a:srgbClr val="00E676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51192" y="12070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084832"/>
            <a:ext cx="8595360" cy="804672"/>
          </a:xfrm>
          <a:prstGeom prst="rect">
            <a:avLst/>
          </a:prstGeom>
          <a:solidFill>
            <a:srgbClr val="071828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1396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OTP Generation — server.js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3408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otp = Math.floor(100000 + Math.random() * 900000);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req.session.otp = otp;  // store in session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953512"/>
            <a:ext cx="8595360" cy="804672"/>
          </a:xfrm>
          <a:prstGeom prst="rect">
            <a:avLst/>
          </a:prstGeom>
          <a:solidFill>
            <a:srgbClr val="071828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0083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 Attempt Limiter — server.js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2095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(attempts &gt;= 3) { return res.send('Account Locked');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db.query('UPDATE users SET locked=1 WHERE id=?', [id]);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822192"/>
            <a:ext cx="8595360" cy="804672"/>
          </a:xfrm>
          <a:prstGeom prst="rect">
            <a:avLst/>
          </a:prstGeom>
          <a:solidFill>
            <a:srgbClr val="071828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8770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File Upload — server.js (Multer)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07822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upload = multer({ dest: 'uploads/'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app.post('/upload', upload.single('file'), (req, res)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db.query('INSERT INTO files SET ?', { filename, user_id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Quality Assurance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97280"/>
            <a:ext cx="1600200" cy="731520"/>
          </a:xfrm>
          <a:prstGeom prst="rect">
            <a:avLst/>
          </a:prstGeom>
          <a:solidFill>
            <a:srgbClr val="111D35"/>
          </a:solidFill>
          <a:ln w="1270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612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1435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84248" y="1097280"/>
            <a:ext cx="1600200" cy="731520"/>
          </a:xfrm>
          <a:prstGeom prst="rect">
            <a:avLst/>
          </a:prstGeom>
          <a:solidFill>
            <a:srgbClr val="111D35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116128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84248" y="1435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739896" y="1097280"/>
            <a:ext cx="1600200" cy="731520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6" y="116128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39896" y="1435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95544" y="1097280"/>
            <a:ext cx="1600200" cy="731520"/>
          </a:xfrm>
          <a:prstGeom prst="rect">
            <a:avLst/>
          </a:prstGeom>
          <a:solidFill>
            <a:srgbClr val="111D35"/>
          </a:solidFill>
          <a:ln w="12700">
            <a:solidFill>
              <a:srgbClr val="FFB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9864" y="116128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95544" y="1435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7251192" y="1097280"/>
            <a:ext cx="1600200" cy="731520"/>
          </a:xfrm>
          <a:prstGeom prst="rect">
            <a:avLst/>
          </a:prstGeom>
          <a:solidFill>
            <a:srgbClr val="111D35"/>
          </a:solidFill>
          <a:ln w="12700">
            <a:solidFill>
              <a:srgbClr val="00E676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5512" y="116128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51192" y="14356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20240"/>
          <a:ext cx="8595360" cy="2798064"/>
        </p:xfrm>
        <a:graphic>
          <a:graphicData uri="http://schemas.openxmlformats.org/drawingml/2006/table">
            <a:tbl>
              <a:tblPr/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TC ID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Expected Output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BCD4"/>
                          </a:solidFill>
                        </a:rPr>
                        <a:t>TC1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User Registration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Valid username &amp; OTP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Registration Successful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</a:rPr>
                        <a:t>✓ Pass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BCD4"/>
                          </a:solidFill>
                        </a:rPr>
                        <a:t>TC2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OTP Verification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Correct OTP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Verification Successful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</a:rPr>
                        <a:t>✓ Pass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BCD4"/>
                          </a:solidFill>
                        </a:rPr>
                        <a:t>TC3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OTP Failed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Incorrect OTP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Error message shown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</a:rPr>
                        <a:t>✓ Pass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BCD4"/>
                          </a:solidFill>
                        </a:rPr>
                        <a:t>TC4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Correct Login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Valid captcha + points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Login Successful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</a:rPr>
                        <a:t>✓ Pass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BCD4"/>
                          </a:solidFill>
                        </a:rPr>
                        <a:t>TC5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Wrong Captcha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Invalid captcha input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Error message shown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</a:rPr>
                        <a:t>✓ Pass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BCD4"/>
                          </a:solidFill>
                        </a:rPr>
                        <a:t>TC6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Wrong Points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Incorrect click-points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Login Failed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</a:rPr>
                        <a:t>✓ Pass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BCD4"/>
                          </a:solidFill>
                        </a:rPr>
                        <a:t>TC7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Account Lock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3 wrong attempts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Account Locked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</a:rPr>
                        <a:t>✓ Pass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BCD4"/>
                          </a:solidFill>
                        </a:rPr>
                        <a:t>TC8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File Upload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Valid file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</a:rPr>
                        <a:t>File Uploaded OK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</a:rPr>
                        <a:t>✓ Pass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Shape 1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 – Authentication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• OTP • Graphical Password • Login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360420" y="3055620"/>
            <a:ext cx="2788920" cy="1783080"/>
          </a:xfrm>
          <a:prstGeom prst="rect">
            <a:avLst/>
          </a:prstGeom>
          <a:solidFill>
            <a:srgbClr val="071828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47642" y="45537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Click Points</a:t>
            </a:r>
          </a:p>
        </p:txBody>
      </p:sp>
      <p:sp>
        <p:nvSpPr>
          <p:cNvPr id="9" name="Shape 6"/>
          <p:cNvSpPr/>
          <p:nvPr/>
        </p:nvSpPr>
        <p:spPr>
          <a:xfrm>
            <a:off x="3344417" y="1159764"/>
            <a:ext cx="2788920" cy="1783080"/>
          </a:xfrm>
          <a:prstGeom prst="rect">
            <a:avLst/>
          </a:prstGeom>
          <a:solidFill>
            <a:srgbClr val="071828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344417" y="26471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Verification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28599" y="1147572"/>
            <a:ext cx="2788920" cy="3695700"/>
          </a:xfrm>
          <a:prstGeom prst="rect">
            <a:avLst/>
          </a:prstGeom>
          <a:solidFill>
            <a:srgbClr val="071828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266685" y="1161288"/>
            <a:ext cx="2788920" cy="1783080"/>
          </a:xfrm>
          <a:prstGeom prst="rect">
            <a:avLst/>
          </a:prstGeom>
          <a:solidFill>
            <a:srgbClr val="071828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Text 11"/>
          <p:cNvSpPr/>
          <p:nvPr/>
        </p:nvSpPr>
        <p:spPr>
          <a:xfrm>
            <a:off x="6274308" y="26730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Captcha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274308" y="3060192"/>
            <a:ext cx="2788920" cy="1783080"/>
          </a:xfrm>
          <a:prstGeom prst="rect">
            <a:avLst/>
          </a:prstGeom>
          <a:solidFill>
            <a:srgbClr val="071828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06140" y="3119628"/>
            <a:ext cx="2697480" cy="1417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74308" y="45720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</a:t>
            </a:r>
            <a:r>
              <a:rPr lang="en-US" sz="1000" b="1" dirty="0" err="1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Clickpoints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228599" y="45491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Page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0" y="488137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274320" y="49743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18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12405" y="1205484"/>
            <a:ext cx="2697480" cy="1554480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90137" y="1251204"/>
            <a:ext cx="2697480" cy="1417320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74320" y="1229868"/>
            <a:ext cx="2697478" cy="33192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C3B3111-BA3E-A262-BDCF-3A58D650F5F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03" r="63536" b="20448"/>
          <a:stretch>
            <a:fillRect/>
          </a:stretch>
        </p:blipFill>
        <p:spPr>
          <a:xfrm>
            <a:off x="6312406" y="3099817"/>
            <a:ext cx="1863854" cy="14437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2AAAAA0-081F-CCFC-97FF-20CA110B15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74515" t="88182"/>
          <a:stretch>
            <a:fillRect/>
          </a:stretch>
        </p:blipFill>
        <p:spPr>
          <a:xfrm>
            <a:off x="7802324" y="3899917"/>
            <a:ext cx="1158796" cy="228324"/>
          </a:xfrm>
          <a:prstGeom prst="rect">
            <a:avLst/>
          </a:prstGeom>
          <a:ln w="76200">
            <a:solidFill>
              <a:srgbClr val="FF0000"/>
            </a:solidFill>
            <a:prstDash val="solid"/>
          </a:ln>
          <a:effectLst>
            <a:softEdge rad="31750"/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 – Dashboard &amp; Admin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 • Dashboard • File System • Admin Panel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218688" y="2932971"/>
            <a:ext cx="2788920" cy="1783080"/>
          </a:xfrm>
          <a:prstGeom prst="rect">
            <a:avLst/>
          </a:prstGeom>
          <a:solidFill>
            <a:srgbClr val="071828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18688" y="4414299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2024" y="1133856"/>
            <a:ext cx="2788920" cy="3602736"/>
          </a:xfrm>
          <a:prstGeom prst="rect">
            <a:avLst/>
          </a:prstGeom>
          <a:solidFill>
            <a:srgbClr val="071828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46304" y="448981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18688" y="1063752"/>
            <a:ext cx="2788920" cy="1770808"/>
          </a:xfrm>
          <a:prstGeom prst="rect">
            <a:avLst/>
          </a:prstGeom>
          <a:solidFill>
            <a:srgbClr val="071828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3218688" y="25328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System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63056" y="1083630"/>
            <a:ext cx="2788920" cy="1783080"/>
          </a:xfrm>
          <a:prstGeom prst="rect">
            <a:avLst/>
          </a:prstGeom>
          <a:solidFill>
            <a:srgbClr val="071828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01212" y="2990883"/>
            <a:ext cx="2023872" cy="1417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3056" y="262591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163056" y="2974848"/>
            <a:ext cx="2788920" cy="1783080"/>
          </a:xfrm>
          <a:prstGeom prst="rect">
            <a:avLst/>
          </a:prstGeom>
          <a:solidFill>
            <a:srgbClr val="071828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Text 15"/>
          <p:cNvSpPr/>
          <p:nvPr/>
        </p:nvSpPr>
        <p:spPr>
          <a:xfrm>
            <a:off x="6163056" y="44805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Logs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19</a:t>
            </a:r>
            <a:endParaRPr lang="en-US" sz="9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64408" y="1161288"/>
            <a:ext cx="2697480" cy="136694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8115452-D47C-7041-1271-6E0D7FEC9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" y="1258850"/>
            <a:ext cx="2697480" cy="327959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2854192-6A58-1E9A-3346-AC5C52767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8967" y="1132676"/>
            <a:ext cx="2677097" cy="152814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AF6B84C-3313-75EC-BED6-60389B4AEA2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63936"/>
          <a:stretch>
            <a:fillRect/>
          </a:stretch>
        </p:blipFill>
        <p:spPr>
          <a:xfrm>
            <a:off x="6245352" y="3024411"/>
            <a:ext cx="2612613" cy="14512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 – Security &amp; Analytics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• Security Alerts • Logout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78992"/>
            <a:ext cx="4251960" cy="1783080"/>
          </a:xfrm>
          <a:prstGeom prst="rect">
            <a:avLst/>
          </a:prstGeom>
          <a:solidFill>
            <a:srgbClr val="071828"/>
          </a:solidFill>
          <a:ln w="12700">
            <a:solidFill>
              <a:srgbClr val="FFB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" y="256032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Charts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36592" y="1078992"/>
            <a:ext cx="4251960" cy="1783080"/>
          </a:xfrm>
          <a:prstGeom prst="rect">
            <a:avLst/>
          </a:prstGeom>
          <a:solidFill>
            <a:srgbClr val="071828"/>
          </a:solidFill>
          <a:ln w="12700">
            <a:solidFill>
              <a:srgbClr val="FFB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736592" y="256032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2999232"/>
            <a:ext cx="4251960" cy="1783080"/>
          </a:xfrm>
          <a:prstGeom prst="rect">
            <a:avLst/>
          </a:prstGeom>
          <a:solidFill>
            <a:srgbClr val="071828"/>
          </a:solidFill>
          <a:ln w="12700">
            <a:solidFill>
              <a:srgbClr val="FFB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274320" y="44805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</a:t>
            </a:r>
            <a:b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(Preview, Download &amp; Delete)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736592" y="2999232"/>
            <a:ext cx="4251960" cy="1783080"/>
          </a:xfrm>
          <a:prstGeom prst="rect">
            <a:avLst/>
          </a:prstGeom>
          <a:solidFill>
            <a:srgbClr val="071828"/>
          </a:solidFill>
          <a:ln w="12700">
            <a:solidFill>
              <a:srgbClr val="FFB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4736592" y="44805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Screen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20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rcRect b="38925"/>
          <a:stretch>
            <a:fillRect/>
          </a:stretch>
        </p:blipFill>
        <p:spPr>
          <a:xfrm>
            <a:off x="4759452" y="3076956"/>
            <a:ext cx="4206240" cy="14310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520B3FA-9F74-CB33-6D27-7757462F69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3" t="20281" r="3726"/>
          <a:stretch>
            <a:fillRect/>
          </a:stretch>
        </p:blipFill>
        <p:spPr>
          <a:xfrm>
            <a:off x="432054" y="1170432"/>
            <a:ext cx="3936492" cy="14173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E73249D-3075-A152-60EC-09BA85E987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6289"/>
          <a:stretch>
            <a:fillRect/>
          </a:stretch>
        </p:blipFill>
        <p:spPr>
          <a:xfrm>
            <a:off x="336550" y="3020060"/>
            <a:ext cx="2063750" cy="13233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57FAFAB-8A71-A949-1C40-CAC3C28D70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t="86845"/>
          <a:stretch>
            <a:fillRect/>
          </a:stretch>
        </p:blipFill>
        <p:spPr>
          <a:xfrm>
            <a:off x="2423160" y="3577844"/>
            <a:ext cx="2063750" cy="32410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99BEA84-3C95-783B-1714-D5B5558D289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4108" r="14796"/>
          <a:stretch>
            <a:fillRect/>
          </a:stretch>
        </p:blipFill>
        <p:spPr>
          <a:xfrm>
            <a:off x="4759452" y="1113282"/>
            <a:ext cx="4206240" cy="14584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Road Ahead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15568"/>
            <a:ext cx="4160520" cy="3611880"/>
          </a:xfrm>
          <a:prstGeom prst="rect">
            <a:avLst/>
          </a:prstGeom>
          <a:solidFill>
            <a:srgbClr val="111D35"/>
          </a:solidFill>
          <a:ln w="1905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704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002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1600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graphical authentication implemented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6654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" y="206654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+ Captcha prevents automated attacks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53288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232" y="2532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attempt limiter secures against brute force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999232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3232" y="29992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management with audit trail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465576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13232" y="346557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monitoring ensures system integrity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0"/>
            <a:ext cx="256032" cy="25603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13232" y="3931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User-friendly, visually intuitive interface</a:t>
            </a:r>
            <a:endParaRPr lang="en-US" sz="1200" dirty="0"/>
          </a:p>
        </p:txBody>
      </p:sp>
      <p:sp>
        <p:nvSpPr>
          <p:cNvPr id="21" name="Shape 12"/>
          <p:cNvSpPr/>
          <p:nvPr/>
        </p:nvSpPr>
        <p:spPr>
          <a:xfrm>
            <a:off x="4709160" y="1115568"/>
            <a:ext cx="4160520" cy="3611880"/>
          </a:xfrm>
          <a:prstGeom prst="rect">
            <a:avLst/>
          </a:prstGeom>
          <a:solidFill>
            <a:srgbClr val="071828"/>
          </a:solidFill>
          <a:ln w="19050">
            <a:solidFill>
              <a:srgbClr val="00E676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170432"/>
            <a:ext cx="384048" cy="38404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0352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609344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66360" y="160934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authentication integration</a:t>
            </a:r>
            <a:endParaRPr lang="en-US" sz="12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075688"/>
            <a:ext cx="256032" cy="25603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66360" y="20756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(Android/iOS)</a:t>
            </a:r>
            <a:endParaRPr lang="en-US" sz="12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542032"/>
            <a:ext cx="256032" cy="25603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166360" y="25420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integration (AWS/GCP)</a:t>
            </a:r>
            <a:endParaRPr lang="en-US" sz="12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008376"/>
            <a:ext cx="256032" cy="25603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166360" y="300837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email OTP service</a:t>
            </a:r>
            <a:endParaRPr lang="en-US" sz="120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3474720"/>
            <a:ext cx="256032" cy="256032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5166360" y="3474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encryption (AES-256)</a:t>
            </a:r>
            <a:endParaRPr lang="en-US" sz="12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3941064"/>
            <a:ext cx="256032" cy="256032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5166360" y="39410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anomaly detection</a:t>
            </a:r>
            <a:endParaRPr lang="en-US" sz="1200" dirty="0"/>
          </a:p>
        </p:txBody>
      </p:sp>
      <p:sp>
        <p:nvSpPr>
          <p:cNvPr id="36" name="Shape 20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7" name="Text 21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38" name="Text 22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&amp; Documentation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10972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15568"/>
            <a:ext cx="8595360" cy="402336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52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5528" y="1161288"/>
            <a:ext cx="18288" cy="2926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1152144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Dhamija &amp; A. Perrig — "Déjà Vu: A User Study Using Images for Authentication", USENIX Security, 2000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8595360" cy="402336"/>
          </a:xfrm>
          <a:prstGeom prst="rect">
            <a:avLst/>
          </a:prstGeom>
          <a:solidFill>
            <a:srgbClr val="0A1428"/>
          </a:solidFill>
          <a:ln w="12700">
            <a:solidFill>
              <a:srgbClr val="546E7A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6093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" y="1618488"/>
            <a:ext cx="18288" cy="2926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1609344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Wiedenbeck et al. — "Shoulder-Surfing Resistant Graphical Password Scheme", AVI Conference, 2006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29968"/>
            <a:ext cx="8595360" cy="402336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0665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" y="2075688"/>
            <a:ext cx="18288" cy="2926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2066544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Thorpe &amp; P. van Oorschot — "Human-Seeded Attacks in Graphical Passwords", USENIX, 2007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8595360" cy="402336"/>
          </a:xfrm>
          <a:prstGeom prst="rect">
            <a:avLst/>
          </a:prstGeom>
          <a:solidFill>
            <a:srgbClr val="0A1428"/>
          </a:solidFill>
          <a:ln w="12700">
            <a:solidFill>
              <a:srgbClr val="546E7A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5237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" y="2532888"/>
            <a:ext cx="18288" cy="2926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" y="2523744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Foundation — Authentication Cheat Sheet: https://owasp.org/www-project-cheat-sheets/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44368"/>
            <a:ext cx="8595360" cy="402336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29809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" y="2990088"/>
            <a:ext cx="18288" cy="2926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" y="2980944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Official Documentation: https://nodejs.org/en/docs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401568"/>
            <a:ext cx="8595360" cy="402336"/>
          </a:xfrm>
          <a:prstGeom prst="rect">
            <a:avLst/>
          </a:prstGeom>
          <a:solidFill>
            <a:srgbClr val="0A1428"/>
          </a:solidFill>
          <a:ln w="12700">
            <a:solidFill>
              <a:srgbClr val="546E7A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" y="3447288"/>
            <a:ext cx="18288" cy="2926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9" name="Text 27"/>
          <p:cNvSpPr/>
          <p:nvPr/>
        </p:nvSpPr>
        <p:spPr>
          <a:xfrm>
            <a:off x="886968" y="3438144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Documentation: https://expressjs.com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858768"/>
            <a:ext cx="8595360" cy="402336"/>
          </a:xfrm>
          <a:prstGeom prst="rect">
            <a:avLst/>
          </a:prstGeom>
          <a:solidFill>
            <a:srgbClr val="111D35"/>
          </a:solidFill>
          <a:ln w="12700">
            <a:solidFill>
              <a:srgbClr val="1565C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38953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5528" y="3904488"/>
            <a:ext cx="18288" cy="2926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3" name="Text 31"/>
          <p:cNvSpPr/>
          <p:nvPr/>
        </p:nvSpPr>
        <p:spPr>
          <a:xfrm>
            <a:off x="886968" y="3895344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Documentation: https://dev.mysql.com/doc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315968"/>
            <a:ext cx="8595360" cy="402336"/>
          </a:xfrm>
          <a:prstGeom prst="rect">
            <a:avLst/>
          </a:prstGeom>
          <a:solidFill>
            <a:srgbClr val="0A1428"/>
          </a:solidFill>
          <a:ln w="12700">
            <a:solidFill>
              <a:srgbClr val="546E7A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65760" y="43525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95528" y="4361688"/>
            <a:ext cx="18288" cy="2926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7" name="Text 35"/>
          <p:cNvSpPr/>
          <p:nvPr/>
        </p:nvSpPr>
        <p:spPr>
          <a:xfrm>
            <a:off x="886968" y="4352544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 Developer Network (MDN) — Web Security: https://developer.mozilla.org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37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GPAS Secure  •  AVNIET  •  2025-2026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124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CD4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1727</Words>
  <Application>Microsoft Office PowerPoint</Application>
  <PresentationFormat>On-screen Show (16:9)</PresentationFormat>
  <Paragraphs>418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GPAS Secure – Final Review Presentation</dc:title>
  <dc:subject>PptxGenJS Presentation</dc:subject>
  <dc:creator>PptxGenJS</dc:creator>
  <cp:lastModifiedBy>Madhav Manugula</cp:lastModifiedBy>
  <cp:revision>7</cp:revision>
  <dcterms:created xsi:type="dcterms:W3CDTF">2026-05-07T05:02:20Z</dcterms:created>
  <dcterms:modified xsi:type="dcterms:W3CDTF">2026-05-07T17:32:27Z</dcterms:modified>
</cp:coreProperties>
</file>